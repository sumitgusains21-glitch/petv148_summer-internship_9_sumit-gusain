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Barlow" charset="1" panose="00000500000000000000"/>
      <p:regular r:id="rId17"/>
    </p:embeddedFont>
    <p:embeddedFont>
      <p:font typeface="Barlow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9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media/image1.jpeg" Type="http://schemas.openxmlformats.org/officeDocument/2006/relationships/image"/><Relationship Id="rId3" Target="../media/image28.jpe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media/image47.png" Type="http://schemas.openxmlformats.org/officeDocument/2006/relationships/image"/><Relationship Id="rId14" Target="../media/image48.svg" Type="http://schemas.openxmlformats.org/officeDocument/2006/relationships/image"/><Relationship Id="rId2" Target="../media/image1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0.png" Type="http://schemas.openxmlformats.org/officeDocument/2006/relationships/image"/><Relationship Id="rId4" Target="../media/image5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2" Target="../media/image1.jpeg" Type="http://schemas.openxmlformats.org/officeDocument/2006/relationships/image"/><Relationship Id="rId3" Target="../media/image53.jpe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049" y="954729"/>
            <a:ext cx="9269911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Password Policy Compliance Auditor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049" y="3084462"/>
            <a:ext cx="9269911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professional password security assessment tool built on real-world cybersecurity standards.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60999" y="4504877"/>
            <a:ext cx="4518717" cy="1838916"/>
            <a:chOff x="0" y="0"/>
            <a:chExt cx="6024956" cy="24518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25007" cy="2451989"/>
            </a:xfrm>
            <a:custGeom>
              <a:avLst/>
              <a:gdLst/>
              <a:ahLst/>
              <a:cxnLst/>
              <a:rect r="r" b="b" t="t" l="l"/>
              <a:pathLst>
                <a:path h="2451989" w="6025007">
                  <a:moveTo>
                    <a:pt x="0" y="630301"/>
                  </a:moveTo>
                  <a:cubicBezTo>
                    <a:pt x="0" y="282194"/>
                    <a:pt x="282194" y="0"/>
                    <a:pt x="630301" y="0"/>
                  </a:cubicBezTo>
                  <a:lnTo>
                    <a:pt x="5394706" y="0"/>
                  </a:lnTo>
                  <a:cubicBezTo>
                    <a:pt x="5742813" y="0"/>
                    <a:pt x="6025007" y="282194"/>
                    <a:pt x="6025007" y="630301"/>
                  </a:cubicBezTo>
                  <a:lnTo>
                    <a:pt x="6025007" y="1821688"/>
                  </a:lnTo>
                  <a:cubicBezTo>
                    <a:pt x="6025007" y="2169795"/>
                    <a:pt x="5742813" y="2451989"/>
                    <a:pt x="5394706" y="2451989"/>
                  </a:cubicBezTo>
                  <a:lnTo>
                    <a:pt x="630301" y="2451989"/>
                  </a:lnTo>
                  <a:cubicBezTo>
                    <a:pt x="282194" y="2451862"/>
                    <a:pt x="0" y="2169668"/>
                    <a:pt x="0" y="1821561"/>
                  </a:cubicBezTo>
                  <a:close/>
                </a:path>
              </a:pathLst>
            </a:custGeom>
            <a:solidFill>
              <a:srgbClr val="0A081B"/>
            </a:solidFill>
            <a:ln w="38100" cap="sq">
              <a:solidFill>
                <a:srgbClr val="16FFB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26664" y="4841977"/>
            <a:ext cx="378737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Python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6664" y="5379539"/>
            <a:ext cx="3787378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Flask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50141" y="4504877"/>
            <a:ext cx="4518870" cy="1838916"/>
            <a:chOff x="0" y="0"/>
            <a:chExt cx="6025159" cy="24518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25134" cy="2451989"/>
            </a:xfrm>
            <a:custGeom>
              <a:avLst/>
              <a:gdLst/>
              <a:ahLst/>
              <a:cxnLst/>
              <a:rect r="r" b="b" t="t" l="l"/>
              <a:pathLst>
                <a:path h="2451989" w="6025134">
                  <a:moveTo>
                    <a:pt x="0" y="630301"/>
                  </a:moveTo>
                  <a:cubicBezTo>
                    <a:pt x="0" y="282194"/>
                    <a:pt x="282194" y="0"/>
                    <a:pt x="630301" y="0"/>
                  </a:cubicBezTo>
                  <a:lnTo>
                    <a:pt x="5394833" y="0"/>
                  </a:lnTo>
                  <a:cubicBezTo>
                    <a:pt x="5742940" y="0"/>
                    <a:pt x="6025134" y="282194"/>
                    <a:pt x="6025134" y="630301"/>
                  </a:cubicBezTo>
                  <a:lnTo>
                    <a:pt x="6025134" y="1821688"/>
                  </a:lnTo>
                  <a:cubicBezTo>
                    <a:pt x="6025134" y="2169795"/>
                    <a:pt x="5742940" y="2451989"/>
                    <a:pt x="5394833" y="2451989"/>
                  </a:cubicBezTo>
                  <a:lnTo>
                    <a:pt x="630301" y="2451989"/>
                  </a:lnTo>
                  <a:cubicBezTo>
                    <a:pt x="282194" y="2451862"/>
                    <a:pt x="0" y="2169668"/>
                    <a:pt x="0" y="1821561"/>
                  </a:cubicBezTo>
                  <a:close/>
                </a:path>
              </a:pathLst>
            </a:custGeom>
            <a:solidFill>
              <a:srgbClr val="0A081B"/>
            </a:solidFill>
            <a:ln w="38100" cap="sq">
              <a:solidFill>
                <a:srgbClr val="29DDD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215805" y="4841977"/>
            <a:ext cx="378753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SQLite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15805" y="5379539"/>
            <a:ext cx="3787531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bcrypt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60999" y="6614217"/>
            <a:ext cx="9308011" cy="1838916"/>
            <a:chOff x="0" y="0"/>
            <a:chExt cx="12410681" cy="24518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10694" cy="2451989"/>
            </a:xfrm>
            <a:custGeom>
              <a:avLst/>
              <a:gdLst/>
              <a:ahLst/>
              <a:cxnLst/>
              <a:rect r="r" b="b" t="t" l="l"/>
              <a:pathLst>
                <a:path h="2451989" w="12410694">
                  <a:moveTo>
                    <a:pt x="0" y="630301"/>
                  </a:moveTo>
                  <a:cubicBezTo>
                    <a:pt x="0" y="282194"/>
                    <a:pt x="282194" y="0"/>
                    <a:pt x="630301" y="0"/>
                  </a:cubicBezTo>
                  <a:lnTo>
                    <a:pt x="11780393" y="0"/>
                  </a:lnTo>
                  <a:cubicBezTo>
                    <a:pt x="12128500" y="0"/>
                    <a:pt x="12410694" y="282194"/>
                    <a:pt x="12410694" y="630301"/>
                  </a:cubicBezTo>
                  <a:lnTo>
                    <a:pt x="12410694" y="1821688"/>
                  </a:lnTo>
                  <a:cubicBezTo>
                    <a:pt x="12410694" y="2169795"/>
                    <a:pt x="12128500" y="2451989"/>
                    <a:pt x="11780393" y="2451989"/>
                  </a:cubicBezTo>
                  <a:lnTo>
                    <a:pt x="630301" y="2451989"/>
                  </a:lnTo>
                  <a:cubicBezTo>
                    <a:pt x="282194" y="2451862"/>
                    <a:pt x="0" y="2169668"/>
                    <a:pt x="0" y="1821561"/>
                  </a:cubicBezTo>
                  <a:close/>
                </a:path>
              </a:pathLst>
            </a:custGeom>
            <a:solidFill>
              <a:srgbClr val="0A081B"/>
            </a:solidFill>
            <a:ln w="38100" cap="sq">
              <a:solidFill>
                <a:srgbClr val="37A7E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26664" y="6951316"/>
            <a:ext cx="857667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NIST SP 800-63B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6664" y="7488879"/>
            <a:ext cx="8576672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OWASP Guidelines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0049" y="8676380"/>
            <a:ext cx="10184311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Developed under the guidance of </a:t>
            </a:r>
            <a:r>
              <a:rPr lang="en-US" sz="2400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Mr. Manish Singh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167495" y="-785071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80049" y="840877"/>
            <a:ext cx="9269911" cy="83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Why This Project?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2005460"/>
            <a:ext cx="9269911" cy="181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Weak passwords remain one of the leading causes of cyber attacks worldwide. Rather than building a basic password checker, the goal was to understand how professional organizations evaluate password security — and replicate that rigor in a real application.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080049" y="4116734"/>
            <a:ext cx="9269911" cy="2509685"/>
          </a:xfrm>
          <a:custGeom>
            <a:avLst/>
            <a:gdLst/>
            <a:ahLst/>
            <a:cxnLst/>
            <a:rect r="r" b="b" t="t" l="l"/>
            <a:pathLst>
              <a:path h="2509685" w="9269911">
                <a:moveTo>
                  <a:pt x="0" y="0"/>
                </a:moveTo>
                <a:lnTo>
                  <a:pt x="9269911" y="0"/>
                </a:lnTo>
                <a:lnTo>
                  <a:pt x="9269911" y="2509685"/>
                </a:lnTo>
                <a:lnTo>
                  <a:pt x="0" y="2509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7" r="0" b="-5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54956" y="4420200"/>
            <a:ext cx="8472488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Research-First Approach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4956" y="4925025"/>
            <a:ext cx="8472488" cy="137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Extensive research on password security, authentication standards, secure coding, and database security was conducted before writing a single line of code.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80049" y="6888661"/>
            <a:ext cx="9269911" cy="2509685"/>
          </a:xfrm>
          <a:custGeom>
            <a:avLst/>
            <a:gdLst/>
            <a:ahLst/>
            <a:cxnLst/>
            <a:rect r="r" b="b" t="t" l="l"/>
            <a:pathLst>
              <a:path h="2509685" w="9269911">
                <a:moveTo>
                  <a:pt x="0" y="0"/>
                </a:moveTo>
                <a:lnTo>
                  <a:pt x="9269911" y="0"/>
                </a:lnTo>
                <a:lnTo>
                  <a:pt x="9269911" y="2509685"/>
                </a:lnTo>
                <a:lnTo>
                  <a:pt x="0" y="2509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7" r="0" b="-5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54956" y="7192118"/>
            <a:ext cx="8472488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Industry Best Practices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4956" y="7696943"/>
            <a:ext cx="8472488" cy="137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Every feature was grounded in internationally recognized standards — not assumptions. NIST and OWASP guidelines drove every architectural decision.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20045"/>
            <a:ext cx="1612791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Project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431427"/>
            <a:ext cx="17042311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goal was to build a practical password auditing application capable of evaluating passwords using real-world cybersecurity principles — not simple character counting.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1790100"/>
            <a:ext cx="7875832" cy="7875832"/>
            <a:chOff x="0" y="0"/>
            <a:chExt cx="10501109" cy="1050110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501122" cy="10501122"/>
            </a:xfrm>
            <a:custGeom>
              <a:avLst/>
              <a:gdLst/>
              <a:ahLst/>
              <a:cxnLst/>
              <a:rect r="r" b="b" t="t" l="l"/>
              <a:pathLst>
                <a:path h="10501122" w="10501122">
                  <a:moveTo>
                    <a:pt x="0" y="0"/>
                  </a:moveTo>
                  <a:lnTo>
                    <a:pt x="10501122" y="0"/>
                  </a:lnTo>
                  <a:lnTo>
                    <a:pt x="10501122" y="10501122"/>
                  </a:lnTo>
                  <a:lnTo>
                    <a:pt x="0" y="10501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9399394" y="4548340"/>
            <a:ext cx="231429" cy="231429"/>
          </a:xfrm>
          <a:custGeom>
            <a:avLst/>
            <a:gdLst/>
            <a:ahLst/>
            <a:cxnLst/>
            <a:rect r="r" b="b" t="t" l="l"/>
            <a:pathLst>
              <a:path h="231429" w="231429">
                <a:moveTo>
                  <a:pt x="0" y="0"/>
                </a:moveTo>
                <a:lnTo>
                  <a:pt x="231429" y="0"/>
                </a:lnTo>
                <a:lnTo>
                  <a:pt x="231429" y="231429"/>
                </a:lnTo>
                <a:lnTo>
                  <a:pt x="0" y="231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000" t="0" r="-7996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842897" y="4515002"/>
            <a:ext cx="7374579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Analyze &amp; Score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42897" y="4834976"/>
            <a:ext cx="7374579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Evaluate strength using entropy and NIST criteria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399394" y="5179066"/>
            <a:ext cx="231429" cy="231429"/>
          </a:xfrm>
          <a:custGeom>
            <a:avLst/>
            <a:gdLst/>
            <a:ahLst/>
            <a:cxnLst/>
            <a:rect r="r" b="b" t="t" l="l"/>
            <a:pathLst>
              <a:path h="231429" w="231429">
                <a:moveTo>
                  <a:pt x="0" y="0"/>
                </a:moveTo>
                <a:lnTo>
                  <a:pt x="231429" y="0"/>
                </a:lnTo>
                <a:lnTo>
                  <a:pt x="231429" y="231429"/>
                </a:lnTo>
                <a:lnTo>
                  <a:pt x="0" y="231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000" t="0" r="-799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42897" y="5145729"/>
            <a:ext cx="7374579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Detect Threats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42897" y="5465712"/>
            <a:ext cx="7374579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Identify common passwords and SQL injection payloads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99394" y="5809802"/>
            <a:ext cx="231429" cy="231429"/>
          </a:xfrm>
          <a:custGeom>
            <a:avLst/>
            <a:gdLst/>
            <a:ahLst/>
            <a:cxnLst/>
            <a:rect r="r" b="b" t="t" l="l"/>
            <a:pathLst>
              <a:path h="231429" w="231429">
                <a:moveTo>
                  <a:pt x="0" y="0"/>
                </a:moveTo>
                <a:lnTo>
                  <a:pt x="231429" y="0"/>
                </a:lnTo>
                <a:lnTo>
                  <a:pt x="231429" y="231429"/>
                </a:lnTo>
                <a:lnTo>
                  <a:pt x="0" y="2314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000" t="0" r="-7996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42897" y="5776465"/>
            <a:ext cx="7374579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Secure Storage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42897" y="6096448"/>
            <a:ext cx="7374579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Store only bcrypt hashes — never plain text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399394" y="6440538"/>
            <a:ext cx="231429" cy="231429"/>
          </a:xfrm>
          <a:custGeom>
            <a:avLst/>
            <a:gdLst/>
            <a:ahLst/>
            <a:cxnLst/>
            <a:rect r="r" b="b" t="t" l="l"/>
            <a:pathLst>
              <a:path h="231429" w="231429">
                <a:moveTo>
                  <a:pt x="0" y="0"/>
                </a:moveTo>
                <a:lnTo>
                  <a:pt x="231429" y="0"/>
                </a:lnTo>
                <a:lnTo>
                  <a:pt x="231429" y="231429"/>
                </a:lnTo>
                <a:lnTo>
                  <a:pt x="0" y="2314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000" t="0" r="-7996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842897" y="6407201"/>
            <a:ext cx="7374579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Professional Reports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42897" y="6727184"/>
            <a:ext cx="7374579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Generate downloadable, structured security assessments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026919"/>
            <a:ext cx="16127911" cy="85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Technology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344493"/>
            <a:ext cx="17042311" cy="52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modern, layered architecture designed for security, reliability, and maintainability — from frontend to database.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80049" y="3174206"/>
            <a:ext cx="723300" cy="723300"/>
          </a:xfrm>
          <a:custGeom>
            <a:avLst/>
            <a:gdLst/>
            <a:ahLst/>
            <a:cxnLst/>
            <a:rect r="r" b="b" t="t" l="l"/>
            <a:pathLst>
              <a:path h="723300" w="723300">
                <a:moveTo>
                  <a:pt x="0" y="0"/>
                </a:moveTo>
                <a:lnTo>
                  <a:pt x="723300" y="0"/>
                </a:lnTo>
                <a:lnTo>
                  <a:pt x="723300" y="723300"/>
                </a:lnTo>
                <a:lnTo>
                  <a:pt x="0" y="723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605" t="0" r="-460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0049" y="4207964"/>
            <a:ext cx="5149901" cy="43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0049" y="4724848"/>
            <a:ext cx="5149901" cy="142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HTML5 · CSS3 · JavaScript — responsive, real-time interface with live strength meter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568973" y="3174206"/>
            <a:ext cx="723300" cy="723300"/>
          </a:xfrm>
          <a:custGeom>
            <a:avLst/>
            <a:gdLst/>
            <a:ahLst/>
            <a:cxnLst/>
            <a:rect r="r" b="b" t="t" l="l"/>
            <a:pathLst>
              <a:path h="723300" w="723300">
                <a:moveTo>
                  <a:pt x="0" y="0"/>
                </a:moveTo>
                <a:lnTo>
                  <a:pt x="723300" y="0"/>
                </a:lnTo>
                <a:lnTo>
                  <a:pt x="723300" y="723300"/>
                </a:lnTo>
                <a:lnTo>
                  <a:pt x="0" y="723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579" t="0" r="-657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68973" y="4207964"/>
            <a:ext cx="5149901" cy="43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68973" y="4724848"/>
            <a:ext cx="5149901" cy="97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Python · Flask — clean RESTful architecture with secure input handling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057907" y="3174206"/>
            <a:ext cx="723300" cy="723300"/>
          </a:xfrm>
          <a:custGeom>
            <a:avLst/>
            <a:gdLst/>
            <a:ahLst/>
            <a:cxnLst/>
            <a:rect r="r" b="b" t="t" l="l"/>
            <a:pathLst>
              <a:path h="723300" w="723300">
                <a:moveTo>
                  <a:pt x="0" y="0"/>
                </a:moveTo>
                <a:lnTo>
                  <a:pt x="723300" y="0"/>
                </a:lnTo>
                <a:lnTo>
                  <a:pt x="723300" y="723300"/>
                </a:lnTo>
                <a:lnTo>
                  <a:pt x="0" y="723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920" r="0" b="-5922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057907" y="4207964"/>
            <a:ext cx="5150044" cy="43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Database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7907" y="4724848"/>
            <a:ext cx="5150044" cy="97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SQLite · Parameterized Queries — injection-resistant data persistence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80049" y="6688779"/>
            <a:ext cx="723300" cy="723300"/>
          </a:xfrm>
          <a:custGeom>
            <a:avLst/>
            <a:gdLst/>
            <a:ahLst/>
            <a:cxnLst/>
            <a:rect r="r" b="b" t="t" l="l"/>
            <a:pathLst>
              <a:path h="723300" w="723300">
                <a:moveTo>
                  <a:pt x="0" y="0"/>
                </a:moveTo>
                <a:lnTo>
                  <a:pt x="723300" y="0"/>
                </a:lnTo>
                <a:lnTo>
                  <a:pt x="723300" y="723300"/>
                </a:lnTo>
                <a:lnTo>
                  <a:pt x="0" y="723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58" r="0" b="-65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80049" y="7722546"/>
            <a:ext cx="5149901" cy="43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Security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0049" y="8239420"/>
            <a:ext cx="5149901" cy="97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bcrypt · NIST SP 800-63B · OWASP — industry-standard hashing and guidelines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6568973" y="6688779"/>
            <a:ext cx="723300" cy="723300"/>
          </a:xfrm>
          <a:custGeom>
            <a:avLst/>
            <a:gdLst/>
            <a:ahLst/>
            <a:cxnLst/>
            <a:rect r="r" b="b" t="t" l="l"/>
            <a:pathLst>
              <a:path h="723300" w="723300">
                <a:moveTo>
                  <a:pt x="0" y="0"/>
                </a:moveTo>
                <a:lnTo>
                  <a:pt x="723300" y="0"/>
                </a:lnTo>
                <a:lnTo>
                  <a:pt x="723300" y="723300"/>
                </a:lnTo>
                <a:lnTo>
                  <a:pt x="0" y="7233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8553" t="0" r="-8553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568973" y="7722546"/>
            <a:ext cx="5149901" cy="43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Development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68973" y="8239420"/>
            <a:ext cx="5149901" cy="97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VS Code · GitHub — version-controlled, iterative development workflow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20045"/>
            <a:ext cx="1612791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Industry Standards Implemented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431427"/>
            <a:ext cx="17042311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Before development began, extensive research was conducted on internationally accepted password security practices. Each standard directly shaped a feature of the application.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1790100"/>
            <a:ext cx="7875832" cy="7875832"/>
            <a:chOff x="0" y="0"/>
            <a:chExt cx="10501109" cy="1050110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501122" cy="10501122"/>
            </a:xfrm>
            <a:custGeom>
              <a:avLst/>
              <a:gdLst/>
              <a:ahLst/>
              <a:cxnLst/>
              <a:rect r="r" b="b" t="t" l="l"/>
              <a:pathLst>
                <a:path h="10501122" w="10501122">
                  <a:moveTo>
                    <a:pt x="0" y="0"/>
                  </a:moveTo>
                  <a:lnTo>
                    <a:pt x="10501122" y="0"/>
                  </a:lnTo>
                  <a:lnTo>
                    <a:pt x="10501122" y="10501122"/>
                  </a:lnTo>
                  <a:lnTo>
                    <a:pt x="0" y="10501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9341644" y="4138612"/>
            <a:ext cx="3899297" cy="1008164"/>
          </a:xfrm>
          <a:custGeom>
            <a:avLst/>
            <a:gdLst/>
            <a:ahLst/>
            <a:cxnLst/>
            <a:rect r="r" b="b" t="t" l="l"/>
            <a:pathLst>
              <a:path h="1008164" w="3899297">
                <a:moveTo>
                  <a:pt x="0" y="0"/>
                </a:moveTo>
                <a:lnTo>
                  <a:pt x="3899297" y="0"/>
                </a:lnTo>
                <a:lnTo>
                  <a:pt x="3899297" y="1008165"/>
                </a:lnTo>
                <a:lnTo>
                  <a:pt x="0" y="10081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91084" y="4283269"/>
            <a:ext cx="3476625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NIST SP 800-63B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1084" y="4603252"/>
            <a:ext cx="3476625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Modern password recommendations — length over forced complexity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3318036" y="4138612"/>
            <a:ext cx="3899449" cy="1008164"/>
          </a:xfrm>
          <a:custGeom>
            <a:avLst/>
            <a:gdLst/>
            <a:ahLst/>
            <a:cxnLst/>
            <a:rect r="r" b="b" t="t" l="l"/>
            <a:pathLst>
              <a:path h="1008164" w="3899449">
                <a:moveTo>
                  <a:pt x="0" y="0"/>
                </a:moveTo>
                <a:lnTo>
                  <a:pt x="3899449" y="0"/>
                </a:lnTo>
                <a:lnTo>
                  <a:pt x="3899449" y="1008165"/>
                </a:lnTo>
                <a:lnTo>
                  <a:pt x="0" y="1008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567467" y="4283269"/>
            <a:ext cx="3476777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OWASP Guidelines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67467" y="4603252"/>
            <a:ext cx="3476777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Application security best practices for authentication systems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41644" y="5223872"/>
            <a:ext cx="3899297" cy="1008164"/>
          </a:xfrm>
          <a:custGeom>
            <a:avLst/>
            <a:gdLst/>
            <a:ahLst/>
            <a:cxnLst/>
            <a:rect r="r" b="b" t="t" l="l"/>
            <a:pathLst>
              <a:path h="1008164" w="3899297">
                <a:moveTo>
                  <a:pt x="0" y="0"/>
                </a:moveTo>
                <a:lnTo>
                  <a:pt x="3899297" y="0"/>
                </a:lnTo>
                <a:lnTo>
                  <a:pt x="3899297" y="1008164"/>
                </a:lnTo>
                <a:lnTo>
                  <a:pt x="0" y="1008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91084" y="5368528"/>
            <a:ext cx="3476625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Common Password DB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91084" y="5688511"/>
            <a:ext cx="3476625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Detection of frequently breached and dictionary passwords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3318036" y="5223872"/>
            <a:ext cx="3899449" cy="1008164"/>
          </a:xfrm>
          <a:custGeom>
            <a:avLst/>
            <a:gdLst/>
            <a:ahLst/>
            <a:cxnLst/>
            <a:rect r="r" b="b" t="t" l="l"/>
            <a:pathLst>
              <a:path h="1008164" w="3899449">
                <a:moveTo>
                  <a:pt x="0" y="0"/>
                </a:moveTo>
                <a:lnTo>
                  <a:pt x="3899449" y="0"/>
                </a:lnTo>
                <a:lnTo>
                  <a:pt x="3899449" y="1008164"/>
                </a:lnTo>
                <a:lnTo>
                  <a:pt x="0" y="10081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567467" y="5368528"/>
            <a:ext cx="3476777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Entropy Calculation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67467" y="5688511"/>
            <a:ext cx="3476777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Mathematical analysis of password randomness and unpredictability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341644" y="6309122"/>
            <a:ext cx="3899297" cy="1008164"/>
          </a:xfrm>
          <a:custGeom>
            <a:avLst/>
            <a:gdLst/>
            <a:ahLst/>
            <a:cxnLst/>
            <a:rect r="r" b="b" t="t" l="l"/>
            <a:pathLst>
              <a:path h="1008164" w="3899297">
                <a:moveTo>
                  <a:pt x="0" y="0"/>
                </a:moveTo>
                <a:lnTo>
                  <a:pt x="3899297" y="0"/>
                </a:lnTo>
                <a:lnTo>
                  <a:pt x="3899297" y="1008164"/>
                </a:lnTo>
                <a:lnTo>
                  <a:pt x="0" y="1008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591084" y="6453788"/>
            <a:ext cx="3476625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bcrypt Hashing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91084" y="6773761"/>
            <a:ext cx="3476625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Adaptive, salted hashing resistant to brute-force attacks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13318036" y="6309122"/>
            <a:ext cx="3899449" cy="1008164"/>
          </a:xfrm>
          <a:custGeom>
            <a:avLst/>
            <a:gdLst/>
            <a:ahLst/>
            <a:cxnLst/>
            <a:rect r="r" b="b" t="t" l="l"/>
            <a:pathLst>
              <a:path h="1008164" w="3899449">
                <a:moveTo>
                  <a:pt x="0" y="0"/>
                </a:moveTo>
                <a:lnTo>
                  <a:pt x="3899449" y="0"/>
                </a:lnTo>
                <a:lnTo>
                  <a:pt x="3899449" y="1008164"/>
                </a:lnTo>
                <a:lnTo>
                  <a:pt x="0" y="10081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567467" y="6453788"/>
            <a:ext cx="3476777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Parameterized Queries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67467" y="6773761"/>
            <a:ext cx="3476777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Complete protection against SQL injection in all database operations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20045"/>
            <a:ext cx="16127911" cy="67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0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Security Features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790995"/>
            <a:ext cx="17042311" cy="37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Every feature was designed to mirror the depth of a professional security audit — not a toy checker.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5762" y="2343598"/>
            <a:ext cx="8005762" cy="2489892"/>
            <a:chOff x="0" y="0"/>
            <a:chExt cx="10674350" cy="3319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74350" cy="3319780"/>
            </a:xfrm>
            <a:custGeom>
              <a:avLst/>
              <a:gdLst/>
              <a:ahLst/>
              <a:cxnLst/>
              <a:rect r="r" b="b" t="t" l="l"/>
              <a:pathLst>
                <a:path h="3319780" w="10674350">
                  <a:moveTo>
                    <a:pt x="0" y="468249"/>
                  </a:moveTo>
                  <a:cubicBezTo>
                    <a:pt x="0" y="209677"/>
                    <a:pt x="209677" y="0"/>
                    <a:pt x="468249" y="0"/>
                  </a:cubicBezTo>
                  <a:lnTo>
                    <a:pt x="10206101" y="0"/>
                  </a:lnTo>
                  <a:cubicBezTo>
                    <a:pt x="10464673" y="0"/>
                    <a:pt x="10674350" y="209677"/>
                    <a:pt x="10674350" y="468249"/>
                  </a:cubicBezTo>
                  <a:lnTo>
                    <a:pt x="10674350" y="2851531"/>
                  </a:lnTo>
                  <a:cubicBezTo>
                    <a:pt x="10674350" y="3110103"/>
                    <a:pt x="10464673" y="3319780"/>
                    <a:pt x="10206101" y="3319780"/>
                  </a:cubicBezTo>
                  <a:lnTo>
                    <a:pt x="468249" y="3319780"/>
                  </a:lnTo>
                  <a:cubicBezTo>
                    <a:pt x="209677" y="3319907"/>
                    <a:pt x="0" y="3110230"/>
                    <a:pt x="0" y="2851531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16FFB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044" y="2617889"/>
            <a:ext cx="694287" cy="694287"/>
            <a:chOff x="0" y="0"/>
            <a:chExt cx="925716" cy="925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462915"/>
                  </a:moveTo>
                  <a:cubicBezTo>
                    <a:pt x="0" y="207264"/>
                    <a:pt x="207264" y="0"/>
                    <a:pt x="462915" y="0"/>
                  </a:cubicBezTo>
                  <a:cubicBezTo>
                    <a:pt x="718566" y="0"/>
                    <a:pt x="925703" y="207264"/>
                    <a:pt x="925703" y="462915"/>
                  </a:cubicBezTo>
                  <a:cubicBezTo>
                    <a:pt x="925703" y="718566"/>
                    <a:pt x="718439" y="925703"/>
                    <a:pt x="462915" y="925703"/>
                  </a:cubicBezTo>
                  <a:cubicBezTo>
                    <a:pt x="207391" y="925703"/>
                    <a:pt x="0" y="718439"/>
                    <a:pt x="0" y="462915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30991" y="2808684"/>
            <a:ext cx="312391" cy="312391"/>
          </a:xfrm>
          <a:custGeom>
            <a:avLst/>
            <a:gdLst/>
            <a:ahLst/>
            <a:cxnLst/>
            <a:rect r="r" b="b" t="t" l="l"/>
            <a:pathLst>
              <a:path h="312391" w="312391">
                <a:moveTo>
                  <a:pt x="0" y="0"/>
                </a:moveTo>
                <a:lnTo>
                  <a:pt x="312392" y="0"/>
                </a:lnTo>
                <a:lnTo>
                  <a:pt x="312392" y="312392"/>
                </a:lnTo>
                <a:lnTo>
                  <a:pt x="0" y="312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40044" y="3476177"/>
            <a:ext cx="745718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Length &amp; Composition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0044" y="3863578"/>
            <a:ext cx="7457180" cy="69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Uppercase, lowercase, numeric, and special character detection with length analysis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16476" y="2343598"/>
            <a:ext cx="8005762" cy="2489892"/>
            <a:chOff x="0" y="0"/>
            <a:chExt cx="10674350" cy="3319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74350" cy="3319780"/>
            </a:xfrm>
            <a:custGeom>
              <a:avLst/>
              <a:gdLst/>
              <a:ahLst/>
              <a:cxnLst/>
              <a:rect r="r" b="b" t="t" l="l"/>
              <a:pathLst>
                <a:path h="3319780" w="10674350">
                  <a:moveTo>
                    <a:pt x="0" y="468249"/>
                  </a:moveTo>
                  <a:cubicBezTo>
                    <a:pt x="0" y="209677"/>
                    <a:pt x="209677" y="0"/>
                    <a:pt x="468249" y="0"/>
                  </a:cubicBezTo>
                  <a:lnTo>
                    <a:pt x="10206101" y="0"/>
                  </a:lnTo>
                  <a:cubicBezTo>
                    <a:pt x="10464673" y="0"/>
                    <a:pt x="10674350" y="209677"/>
                    <a:pt x="10674350" y="468249"/>
                  </a:cubicBezTo>
                  <a:lnTo>
                    <a:pt x="10674350" y="2851531"/>
                  </a:lnTo>
                  <a:cubicBezTo>
                    <a:pt x="10674350" y="3110103"/>
                    <a:pt x="10464673" y="3319780"/>
                    <a:pt x="10206101" y="3319780"/>
                  </a:cubicBezTo>
                  <a:lnTo>
                    <a:pt x="468249" y="3319780"/>
                  </a:lnTo>
                  <a:cubicBezTo>
                    <a:pt x="209677" y="3319907"/>
                    <a:pt x="0" y="3110230"/>
                    <a:pt x="0" y="2851531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29DDD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490767" y="2617889"/>
            <a:ext cx="694287" cy="694287"/>
            <a:chOff x="0" y="0"/>
            <a:chExt cx="925716" cy="9257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462915"/>
                  </a:moveTo>
                  <a:cubicBezTo>
                    <a:pt x="0" y="207264"/>
                    <a:pt x="207264" y="0"/>
                    <a:pt x="462915" y="0"/>
                  </a:cubicBezTo>
                  <a:cubicBezTo>
                    <a:pt x="718566" y="0"/>
                    <a:pt x="925703" y="207264"/>
                    <a:pt x="925703" y="462915"/>
                  </a:cubicBezTo>
                  <a:cubicBezTo>
                    <a:pt x="925703" y="718566"/>
                    <a:pt x="718439" y="925703"/>
                    <a:pt x="462915" y="925703"/>
                  </a:cubicBezTo>
                  <a:cubicBezTo>
                    <a:pt x="207391" y="925703"/>
                    <a:pt x="0" y="718439"/>
                    <a:pt x="0" y="462915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681715" y="2808684"/>
            <a:ext cx="312391" cy="312391"/>
          </a:xfrm>
          <a:custGeom>
            <a:avLst/>
            <a:gdLst/>
            <a:ahLst/>
            <a:cxnLst/>
            <a:rect r="r" b="b" t="t" l="l"/>
            <a:pathLst>
              <a:path h="312391" w="312391">
                <a:moveTo>
                  <a:pt x="0" y="0"/>
                </a:moveTo>
                <a:lnTo>
                  <a:pt x="312391" y="0"/>
                </a:lnTo>
                <a:lnTo>
                  <a:pt x="312391" y="312392"/>
                </a:lnTo>
                <a:lnTo>
                  <a:pt x="0" y="3123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9092" r="0" b="-908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490767" y="3476177"/>
            <a:ext cx="745718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Entropy &amp; Crack Time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0767" y="3863578"/>
            <a:ext cx="7457180" cy="37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Bitwise entropy calculation and estimated brute-force resistance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65762" y="4978451"/>
            <a:ext cx="8005762" cy="2165899"/>
            <a:chOff x="0" y="0"/>
            <a:chExt cx="10674350" cy="28878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74350" cy="2887853"/>
            </a:xfrm>
            <a:custGeom>
              <a:avLst/>
              <a:gdLst/>
              <a:ahLst/>
              <a:cxnLst/>
              <a:rect r="r" b="b" t="t" l="l"/>
              <a:pathLst>
                <a:path h="2887853" w="10674350">
                  <a:moveTo>
                    <a:pt x="0" y="469138"/>
                  </a:moveTo>
                  <a:cubicBezTo>
                    <a:pt x="0" y="210058"/>
                    <a:pt x="210058" y="0"/>
                    <a:pt x="469138" y="0"/>
                  </a:cubicBezTo>
                  <a:lnTo>
                    <a:pt x="10205212" y="0"/>
                  </a:lnTo>
                  <a:cubicBezTo>
                    <a:pt x="10464292" y="0"/>
                    <a:pt x="10674350" y="210058"/>
                    <a:pt x="10674350" y="469138"/>
                  </a:cubicBezTo>
                  <a:lnTo>
                    <a:pt x="10674350" y="2418715"/>
                  </a:lnTo>
                  <a:cubicBezTo>
                    <a:pt x="10674350" y="2677795"/>
                    <a:pt x="10464292" y="2887853"/>
                    <a:pt x="10205212" y="2887853"/>
                  </a:cubicBezTo>
                  <a:lnTo>
                    <a:pt x="469138" y="2887853"/>
                  </a:lnTo>
                  <a:cubicBezTo>
                    <a:pt x="210058" y="2887853"/>
                    <a:pt x="0" y="2677795"/>
                    <a:pt x="0" y="2418715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37A7E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40044" y="5252742"/>
            <a:ext cx="694287" cy="694287"/>
            <a:chOff x="0" y="0"/>
            <a:chExt cx="925716" cy="9257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462915"/>
                  </a:moveTo>
                  <a:cubicBezTo>
                    <a:pt x="0" y="207264"/>
                    <a:pt x="207264" y="0"/>
                    <a:pt x="462915" y="0"/>
                  </a:cubicBezTo>
                  <a:cubicBezTo>
                    <a:pt x="718566" y="0"/>
                    <a:pt x="925703" y="207264"/>
                    <a:pt x="925703" y="462915"/>
                  </a:cubicBezTo>
                  <a:cubicBezTo>
                    <a:pt x="925703" y="718566"/>
                    <a:pt x="718439" y="925703"/>
                    <a:pt x="462915" y="925703"/>
                  </a:cubicBezTo>
                  <a:cubicBezTo>
                    <a:pt x="207391" y="925703"/>
                    <a:pt x="0" y="718439"/>
                    <a:pt x="0" y="462915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530991" y="5443538"/>
            <a:ext cx="312391" cy="312391"/>
          </a:xfrm>
          <a:custGeom>
            <a:avLst/>
            <a:gdLst/>
            <a:ahLst/>
            <a:cxnLst/>
            <a:rect r="r" b="b" t="t" l="l"/>
            <a:pathLst>
              <a:path h="312391" w="312391">
                <a:moveTo>
                  <a:pt x="0" y="0"/>
                </a:moveTo>
                <a:lnTo>
                  <a:pt x="312392" y="0"/>
                </a:lnTo>
                <a:lnTo>
                  <a:pt x="312392" y="312391"/>
                </a:lnTo>
                <a:lnTo>
                  <a:pt x="0" y="312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546" t="0" r="-4543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40044" y="6111030"/>
            <a:ext cx="745718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Threat Detection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0044" y="6498431"/>
            <a:ext cx="7457180" cy="37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Common password database lookup and SQL injection payload detection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16476" y="4978451"/>
            <a:ext cx="8005762" cy="2165899"/>
            <a:chOff x="0" y="0"/>
            <a:chExt cx="10674350" cy="28878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74350" cy="2887853"/>
            </a:xfrm>
            <a:custGeom>
              <a:avLst/>
              <a:gdLst/>
              <a:ahLst/>
              <a:cxnLst/>
              <a:rect r="r" b="b" t="t" l="l"/>
              <a:pathLst>
                <a:path h="2887853" w="10674350">
                  <a:moveTo>
                    <a:pt x="0" y="469138"/>
                  </a:moveTo>
                  <a:cubicBezTo>
                    <a:pt x="0" y="210058"/>
                    <a:pt x="210058" y="0"/>
                    <a:pt x="469138" y="0"/>
                  </a:cubicBezTo>
                  <a:lnTo>
                    <a:pt x="10205212" y="0"/>
                  </a:lnTo>
                  <a:cubicBezTo>
                    <a:pt x="10464292" y="0"/>
                    <a:pt x="10674350" y="210058"/>
                    <a:pt x="10674350" y="469138"/>
                  </a:cubicBezTo>
                  <a:lnTo>
                    <a:pt x="10674350" y="2418715"/>
                  </a:lnTo>
                  <a:cubicBezTo>
                    <a:pt x="10674350" y="2677795"/>
                    <a:pt x="10464292" y="2887853"/>
                    <a:pt x="10205212" y="2887853"/>
                  </a:cubicBezTo>
                  <a:lnTo>
                    <a:pt x="469138" y="2887853"/>
                  </a:lnTo>
                  <a:cubicBezTo>
                    <a:pt x="210058" y="2887853"/>
                    <a:pt x="0" y="2677795"/>
                    <a:pt x="0" y="2418715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091231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90767" y="5252742"/>
            <a:ext cx="694287" cy="694287"/>
            <a:chOff x="0" y="0"/>
            <a:chExt cx="925716" cy="9257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462915"/>
                  </a:moveTo>
                  <a:cubicBezTo>
                    <a:pt x="0" y="207264"/>
                    <a:pt x="207264" y="0"/>
                    <a:pt x="462915" y="0"/>
                  </a:cubicBezTo>
                  <a:cubicBezTo>
                    <a:pt x="718566" y="0"/>
                    <a:pt x="925703" y="207264"/>
                    <a:pt x="925703" y="462915"/>
                  </a:cubicBezTo>
                  <a:cubicBezTo>
                    <a:pt x="925703" y="718566"/>
                    <a:pt x="718439" y="925703"/>
                    <a:pt x="462915" y="925703"/>
                  </a:cubicBezTo>
                  <a:cubicBezTo>
                    <a:pt x="207391" y="925703"/>
                    <a:pt x="0" y="718439"/>
                    <a:pt x="0" y="462915"/>
                  </a:cubicBezTo>
                  <a:close/>
                </a:path>
              </a:pathLst>
            </a:custGeom>
            <a:solidFill>
              <a:srgbClr val="091231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681715" y="5443538"/>
            <a:ext cx="312391" cy="312391"/>
          </a:xfrm>
          <a:custGeom>
            <a:avLst/>
            <a:gdLst/>
            <a:ahLst/>
            <a:cxnLst/>
            <a:rect r="r" b="b" t="t" l="l"/>
            <a:pathLst>
              <a:path h="312391" w="312391">
                <a:moveTo>
                  <a:pt x="0" y="0"/>
                </a:moveTo>
                <a:lnTo>
                  <a:pt x="312391" y="0"/>
                </a:lnTo>
                <a:lnTo>
                  <a:pt x="312391" y="312391"/>
                </a:lnTo>
                <a:lnTo>
                  <a:pt x="0" y="3123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576" r="0" b="-7573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490767" y="6111030"/>
            <a:ext cx="745718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bcrypt Hashing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90767" y="6498431"/>
            <a:ext cx="7457180" cy="37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Adaptive salted hash generation for all stored credentials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65762" y="7289302"/>
            <a:ext cx="8005762" cy="2165899"/>
            <a:chOff x="0" y="0"/>
            <a:chExt cx="10674350" cy="288786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74350" cy="2887853"/>
            </a:xfrm>
            <a:custGeom>
              <a:avLst/>
              <a:gdLst/>
              <a:ahLst/>
              <a:cxnLst/>
              <a:rect r="r" b="b" t="t" l="l"/>
              <a:pathLst>
                <a:path h="2887853" w="10674350">
                  <a:moveTo>
                    <a:pt x="0" y="469138"/>
                  </a:moveTo>
                  <a:cubicBezTo>
                    <a:pt x="0" y="210058"/>
                    <a:pt x="210058" y="0"/>
                    <a:pt x="469138" y="0"/>
                  </a:cubicBezTo>
                  <a:lnTo>
                    <a:pt x="10205212" y="0"/>
                  </a:lnTo>
                  <a:cubicBezTo>
                    <a:pt x="10464292" y="0"/>
                    <a:pt x="10674350" y="210058"/>
                    <a:pt x="10674350" y="469138"/>
                  </a:cubicBezTo>
                  <a:lnTo>
                    <a:pt x="10674350" y="2418715"/>
                  </a:lnTo>
                  <a:cubicBezTo>
                    <a:pt x="10674350" y="2677795"/>
                    <a:pt x="10464292" y="2887853"/>
                    <a:pt x="10205212" y="2887853"/>
                  </a:cubicBezTo>
                  <a:lnTo>
                    <a:pt x="469138" y="2887853"/>
                  </a:lnTo>
                  <a:cubicBezTo>
                    <a:pt x="210058" y="2887853"/>
                    <a:pt x="0" y="2677795"/>
                    <a:pt x="0" y="2418715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16FFB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40044" y="7563593"/>
            <a:ext cx="694287" cy="694287"/>
            <a:chOff x="0" y="0"/>
            <a:chExt cx="925716" cy="9257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462915"/>
                  </a:moveTo>
                  <a:cubicBezTo>
                    <a:pt x="0" y="207264"/>
                    <a:pt x="207264" y="0"/>
                    <a:pt x="462915" y="0"/>
                  </a:cubicBezTo>
                  <a:cubicBezTo>
                    <a:pt x="718566" y="0"/>
                    <a:pt x="925703" y="207264"/>
                    <a:pt x="925703" y="462915"/>
                  </a:cubicBezTo>
                  <a:cubicBezTo>
                    <a:pt x="925703" y="718566"/>
                    <a:pt x="718439" y="925703"/>
                    <a:pt x="462915" y="925703"/>
                  </a:cubicBezTo>
                  <a:cubicBezTo>
                    <a:pt x="207391" y="925703"/>
                    <a:pt x="0" y="718439"/>
                    <a:pt x="0" y="462915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1530991" y="7754388"/>
            <a:ext cx="312391" cy="312391"/>
          </a:xfrm>
          <a:custGeom>
            <a:avLst/>
            <a:gdLst/>
            <a:ahLst/>
            <a:cxnLst/>
            <a:rect r="r" b="b" t="t" l="l"/>
            <a:pathLst>
              <a:path h="312391" w="312391">
                <a:moveTo>
                  <a:pt x="0" y="0"/>
                </a:moveTo>
                <a:lnTo>
                  <a:pt x="312392" y="0"/>
                </a:lnTo>
                <a:lnTo>
                  <a:pt x="312392" y="312392"/>
                </a:lnTo>
                <a:lnTo>
                  <a:pt x="0" y="3123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4546" r="0" b="-4543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40044" y="8421881"/>
            <a:ext cx="745718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Dynamic Reports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40044" y="8809282"/>
            <a:ext cx="7457180" cy="37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Professional downloadable security assessments with compliance scores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16476" y="7289302"/>
            <a:ext cx="8005762" cy="2165899"/>
            <a:chOff x="0" y="0"/>
            <a:chExt cx="10674350" cy="288786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674350" cy="2887853"/>
            </a:xfrm>
            <a:custGeom>
              <a:avLst/>
              <a:gdLst/>
              <a:ahLst/>
              <a:cxnLst/>
              <a:rect r="r" b="b" t="t" l="l"/>
              <a:pathLst>
                <a:path h="2887853" w="10674350">
                  <a:moveTo>
                    <a:pt x="0" y="469138"/>
                  </a:moveTo>
                  <a:cubicBezTo>
                    <a:pt x="0" y="210058"/>
                    <a:pt x="210058" y="0"/>
                    <a:pt x="469138" y="0"/>
                  </a:cubicBezTo>
                  <a:lnTo>
                    <a:pt x="10205212" y="0"/>
                  </a:lnTo>
                  <a:cubicBezTo>
                    <a:pt x="10464292" y="0"/>
                    <a:pt x="10674350" y="210058"/>
                    <a:pt x="10674350" y="469138"/>
                  </a:cubicBezTo>
                  <a:lnTo>
                    <a:pt x="10674350" y="2418715"/>
                  </a:lnTo>
                  <a:cubicBezTo>
                    <a:pt x="10674350" y="2677795"/>
                    <a:pt x="10464292" y="2887853"/>
                    <a:pt x="10205212" y="2887853"/>
                  </a:cubicBezTo>
                  <a:lnTo>
                    <a:pt x="469138" y="2887853"/>
                  </a:lnTo>
                  <a:cubicBezTo>
                    <a:pt x="210058" y="2887853"/>
                    <a:pt x="0" y="2677795"/>
                    <a:pt x="0" y="2418715"/>
                  </a:cubicBezTo>
                  <a:close/>
                </a:path>
              </a:pathLst>
            </a:custGeom>
            <a:solidFill>
              <a:srgbClr val="0A081B"/>
            </a:solidFill>
            <a:ln w="28576" cap="sq">
              <a:solidFill>
                <a:srgbClr val="29DDD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490767" y="7563593"/>
            <a:ext cx="694287" cy="694287"/>
            <a:chOff x="0" y="0"/>
            <a:chExt cx="925716" cy="9257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462915"/>
                  </a:moveTo>
                  <a:cubicBezTo>
                    <a:pt x="0" y="207264"/>
                    <a:pt x="207264" y="0"/>
                    <a:pt x="462915" y="0"/>
                  </a:cubicBezTo>
                  <a:cubicBezTo>
                    <a:pt x="718566" y="0"/>
                    <a:pt x="925703" y="207264"/>
                    <a:pt x="925703" y="462915"/>
                  </a:cubicBezTo>
                  <a:cubicBezTo>
                    <a:pt x="925703" y="718566"/>
                    <a:pt x="718439" y="925703"/>
                    <a:pt x="462915" y="925703"/>
                  </a:cubicBezTo>
                  <a:cubicBezTo>
                    <a:pt x="207391" y="925703"/>
                    <a:pt x="0" y="718439"/>
                    <a:pt x="0" y="462915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name="Freeform 47" id="47" descr="preencoded.png"/>
          <p:cNvSpPr/>
          <p:nvPr/>
        </p:nvSpPr>
        <p:spPr>
          <a:xfrm flipH="false" flipV="false" rot="0">
            <a:off x="9681715" y="7754388"/>
            <a:ext cx="312391" cy="312391"/>
          </a:xfrm>
          <a:custGeom>
            <a:avLst/>
            <a:gdLst/>
            <a:ahLst/>
            <a:cxnLst/>
            <a:rect r="r" b="b" t="t" l="l"/>
            <a:pathLst>
              <a:path h="312391" w="312391">
                <a:moveTo>
                  <a:pt x="0" y="0"/>
                </a:moveTo>
                <a:lnTo>
                  <a:pt x="312391" y="0"/>
                </a:lnTo>
                <a:lnTo>
                  <a:pt x="312391" y="312392"/>
                </a:lnTo>
                <a:lnTo>
                  <a:pt x="0" y="3123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7576" t="0" r="-7573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9490767" y="8421881"/>
            <a:ext cx="745718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Secure Audit Logging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90767" y="8809282"/>
            <a:ext cx="7457180" cy="37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Immutable records with timestamps, scores, and security ratings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20045"/>
            <a:ext cx="1612791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How It 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431427"/>
            <a:ext cx="17042311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secure, multi-layered pipeline ensures every password is evaluated thoroughly before any result is returned or stored.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1703337"/>
            <a:ext cx="14630400" cy="8229600"/>
            <a:chOff x="0" y="0"/>
            <a:chExt cx="19507200" cy="109728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049" y="10019700"/>
            <a:ext cx="17042311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pipeline is designed so that </a:t>
            </a:r>
            <a:r>
              <a:rPr lang="en-US" sz="1200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no plain-text password ever persists</a:t>
            </a: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hashing occurs before any database interaction, and threat detection runs in parallel with strength evaluation.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20045"/>
            <a:ext cx="1612791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Secure Audit Logging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4439993"/>
            <a:ext cx="7875832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Plain Password </a:t>
            </a:r>
            <a:r>
              <a:rPr lang="en-US" sz="13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049" y="4759966"/>
            <a:ext cx="8790232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Stored as readable text — vulnerable to data breaches, insider threats, and credential theft.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4993634"/>
            <a:ext cx="7875832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bcrypt Hash </a:t>
            </a:r>
            <a:r>
              <a:rPr lang="en-US" sz="13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✅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0049" y="5313607"/>
            <a:ext cx="7875832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Salted, adaptive hash — computationally expensive to reverse, protecting credentials even if the database is compromised.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0049" y="5770664"/>
            <a:ext cx="7875832" cy="586083"/>
            <a:chOff x="0" y="0"/>
            <a:chExt cx="10501109" cy="7814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01122" cy="781431"/>
            </a:xfrm>
            <a:custGeom>
              <a:avLst/>
              <a:gdLst/>
              <a:ahLst/>
              <a:cxnLst/>
              <a:rect r="r" b="b" t="t" l="l"/>
              <a:pathLst>
                <a:path h="781431" w="10501122">
                  <a:moveTo>
                    <a:pt x="0" y="308610"/>
                  </a:moveTo>
                  <a:cubicBezTo>
                    <a:pt x="0" y="138176"/>
                    <a:pt x="138176" y="0"/>
                    <a:pt x="308610" y="0"/>
                  </a:cubicBezTo>
                  <a:lnTo>
                    <a:pt x="10192512" y="0"/>
                  </a:lnTo>
                  <a:cubicBezTo>
                    <a:pt x="10362946" y="0"/>
                    <a:pt x="10501122" y="138176"/>
                    <a:pt x="10501122" y="308610"/>
                  </a:cubicBezTo>
                  <a:lnTo>
                    <a:pt x="10501122" y="472821"/>
                  </a:lnTo>
                  <a:cubicBezTo>
                    <a:pt x="10501122" y="643255"/>
                    <a:pt x="10362946" y="781431"/>
                    <a:pt x="10192512" y="781431"/>
                  </a:cubicBezTo>
                  <a:lnTo>
                    <a:pt x="308610" y="781431"/>
                  </a:lnTo>
                  <a:cubicBezTo>
                    <a:pt x="138176" y="781431"/>
                    <a:pt x="0" y="643255"/>
                    <a:pt x="0" y="472821"/>
                  </a:cubicBezTo>
                  <a:close/>
                </a:path>
              </a:pathLst>
            </a:custGeom>
            <a:solidFill>
              <a:srgbClr val="00805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230" y="5980805"/>
            <a:ext cx="192881" cy="154191"/>
            <a:chOff x="0" y="0"/>
            <a:chExt cx="257175" cy="20558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257175" cy="205613"/>
            </a:xfrm>
            <a:custGeom>
              <a:avLst/>
              <a:gdLst/>
              <a:ahLst/>
              <a:cxnLst/>
              <a:rect r="r" b="b" t="t" l="l"/>
              <a:pathLst>
                <a:path h="205613" w="257175">
                  <a:moveTo>
                    <a:pt x="0" y="0"/>
                  </a:moveTo>
                  <a:lnTo>
                    <a:pt x="257175" y="0"/>
                  </a:lnTo>
                  <a:lnTo>
                    <a:pt x="257175" y="205613"/>
                  </a:lnTo>
                  <a:lnTo>
                    <a:pt x="0" y="205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36" r="0" b="-61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81302" y="5878563"/>
            <a:ext cx="7220398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Hashing is non-negotiable in any system that handles authentication data. bcrypt's cost factor increases over time to stay ahead of hardware advances.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41644" y="1479652"/>
            <a:ext cx="7875832" cy="7875832"/>
            <a:chOff x="0" y="0"/>
            <a:chExt cx="10501109" cy="1050110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501122" cy="10501122"/>
            </a:xfrm>
            <a:custGeom>
              <a:avLst/>
              <a:gdLst/>
              <a:ahLst/>
              <a:cxnLst/>
              <a:rect r="r" b="b" t="t" l="l"/>
              <a:pathLst>
                <a:path h="10501122" w="10501122">
                  <a:moveTo>
                    <a:pt x="0" y="0"/>
                  </a:moveTo>
                  <a:lnTo>
                    <a:pt x="10501122" y="0"/>
                  </a:lnTo>
                  <a:lnTo>
                    <a:pt x="10501122" y="10501122"/>
                  </a:lnTo>
                  <a:lnTo>
                    <a:pt x="0" y="10501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80049" y="9529020"/>
            <a:ext cx="17042311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Each audit record securely stores: </a:t>
            </a:r>
            <a:r>
              <a:rPr lang="en-US" sz="1200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username, password length, compliance score, security checks performed, bcrypt hash, timestamp,</a:t>
            </a: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and </a:t>
            </a:r>
            <a:r>
              <a:rPr lang="en-US" sz="1200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security rating</a:t>
            </a: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— never the raw password.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4143" y="162428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38049" y="1100433"/>
            <a:ext cx="9269911" cy="86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Professional User Interface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38049" y="2309365"/>
            <a:ext cx="9269911" cy="86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interface follows modern application design principles — built for clarity, speed, and usability under real-world conditions.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18999" y="3600745"/>
            <a:ext cx="4532862" cy="3116904"/>
            <a:chOff x="0" y="0"/>
            <a:chExt cx="6043816" cy="41558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43930" cy="4155948"/>
            </a:xfrm>
            <a:custGeom>
              <a:avLst/>
              <a:gdLst/>
              <a:ahLst/>
              <a:cxnLst/>
              <a:rect r="r" b="b" t="t" l="l"/>
              <a:pathLst>
                <a:path h="4155948" w="6043930">
                  <a:moveTo>
                    <a:pt x="0" y="595630"/>
                  </a:moveTo>
                  <a:cubicBezTo>
                    <a:pt x="0" y="266700"/>
                    <a:pt x="266700" y="0"/>
                    <a:pt x="595630" y="0"/>
                  </a:cubicBezTo>
                  <a:lnTo>
                    <a:pt x="5448300" y="0"/>
                  </a:lnTo>
                  <a:cubicBezTo>
                    <a:pt x="5777230" y="0"/>
                    <a:pt x="6043930" y="266700"/>
                    <a:pt x="6043930" y="595630"/>
                  </a:cubicBezTo>
                  <a:lnTo>
                    <a:pt x="6043930" y="3560318"/>
                  </a:lnTo>
                  <a:cubicBezTo>
                    <a:pt x="6043930" y="3889248"/>
                    <a:pt x="5777230" y="4155948"/>
                    <a:pt x="5448300" y="4155948"/>
                  </a:cubicBezTo>
                  <a:lnTo>
                    <a:pt x="595630" y="4155948"/>
                  </a:lnTo>
                  <a:cubicBezTo>
                    <a:pt x="266700" y="4155948"/>
                    <a:pt x="0" y="3889248"/>
                    <a:pt x="0" y="3560318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  <a:ln w="38100" cap="sq">
              <a:solidFill>
                <a:srgbClr val="16FFB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270234" y="3923405"/>
            <a:ext cx="3830393" cy="43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Real-Time Feedback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70234" y="4452490"/>
            <a:ext cx="3830393" cy="19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Live password strength meter with animated progress bar and instant checklist updates as the user types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693996" y="3600745"/>
            <a:ext cx="4533005" cy="3116904"/>
            <a:chOff x="0" y="0"/>
            <a:chExt cx="6044006" cy="4155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44057" cy="4155948"/>
            </a:xfrm>
            <a:custGeom>
              <a:avLst/>
              <a:gdLst/>
              <a:ahLst/>
              <a:cxnLst/>
              <a:rect r="r" b="b" t="t" l="l"/>
              <a:pathLst>
                <a:path h="4155948" w="6044057">
                  <a:moveTo>
                    <a:pt x="0" y="595630"/>
                  </a:moveTo>
                  <a:cubicBezTo>
                    <a:pt x="0" y="266700"/>
                    <a:pt x="266700" y="0"/>
                    <a:pt x="595630" y="0"/>
                  </a:cubicBezTo>
                  <a:lnTo>
                    <a:pt x="5448427" y="0"/>
                  </a:lnTo>
                  <a:cubicBezTo>
                    <a:pt x="5777357" y="0"/>
                    <a:pt x="6044057" y="266700"/>
                    <a:pt x="6044057" y="595630"/>
                  </a:cubicBezTo>
                  <a:lnTo>
                    <a:pt x="6044057" y="3560318"/>
                  </a:lnTo>
                  <a:cubicBezTo>
                    <a:pt x="6044057" y="3889248"/>
                    <a:pt x="5777357" y="4155948"/>
                    <a:pt x="5448427" y="4155948"/>
                  </a:cubicBezTo>
                  <a:lnTo>
                    <a:pt x="595630" y="4155948"/>
                  </a:lnTo>
                  <a:cubicBezTo>
                    <a:pt x="266700" y="4155948"/>
                    <a:pt x="0" y="3889248"/>
                    <a:pt x="0" y="3560318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  <a:ln w="38100" cap="sq">
              <a:solidFill>
                <a:srgbClr val="29DDDA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3045230" y="3923405"/>
            <a:ext cx="3830536" cy="43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Responsive Layout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45230" y="4452490"/>
            <a:ext cx="3830536" cy="19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Cyber-themed design that adapts seamlessly across devices — desktop, tablet, and mobile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918999" y="6959794"/>
            <a:ext cx="9308011" cy="2198046"/>
            <a:chOff x="0" y="0"/>
            <a:chExt cx="12410681" cy="29307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10694" cy="2930779"/>
            </a:xfrm>
            <a:custGeom>
              <a:avLst/>
              <a:gdLst/>
              <a:ahLst/>
              <a:cxnLst/>
              <a:rect r="r" b="b" t="t" l="l"/>
              <a:pathLst>
                <a:path h="2930779" w="12410694">
                  <a:moveTo>
                    <a:pt x="0" y="598678"/>
                  </a:moveTo>
                  <a:cubicBezTo>
                    <a:pt x="0" y="267970"/>
                    <a:pt x="267970" y="0"/>
                    <a:pt x="598678" y="0"/>
                  </a:cubicBezTo>
                  <a:lnTo>
                    <a:pt x="11812016" y="0"/>
                  </a:lnTo>
                  <a:cubicBezTo>
                    <a:pt x="12142598" y="0"/>
                    <a:pt x="12410694" y="267970"/>
                    <a:pt x="12410694" y="598678"/>
                  </a:cubicBezTo>
                  <a:lnTo>
                    <a:pt x="12410694" y="2332101"/>
                  </a:lnTo>
                  <a:cubicBezTo>
                    <a:pt x="12410694" y="2662682"/>
                    <a:pt x="12142724" y="2930779"/>
                    <a:pt x="11812016" y="2930779"/>
                  </a:cubicBezTo>
                  <a:lnTo>
                    <a:pt x="598678" y="2930779"/>
                  </a:lnTo>
                  <a:cubicBezTo>
                    <a:pt x="267970" y="2930779"/>
                    <a:pt x="0" y="2662682"/>
                    <a:pt x="0" y="2332101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  <a:ln w="38100" cap="sq">
              <a:solidFill>
                <a:srgbClr val="37A7E7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270234" y="7282453"/>
            <a:ext cx="8605542" cy="43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Interactive Reports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70234" y="7811538"/>
            <a:ext cx="8605542" cy="99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3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One-click generation of professional, downloadable security assessment documents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20045"/>
            <a:ext cx="1612791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Challenges &amp; Learning Journey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431427"/>
            <a:ext cx="17042311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This project evolved through continuous research, testing, and refinement — each challenge deepened our understanding of real-world cybersecurity.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1790100"/>
            <a:ext cx="7875832" cy="7875832"/>
            <a:chOff x="0" y="0"/>
            <a:chExt cx="10501109" cy="1050110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501122" cy="10501122"/>
            </a:xfrm>
            <a:custGeom>
              <a:avLst/>
              <a:gdLst/>
              <a:ahLst/>
              <a:cxnLst/>
              <a:rect r="r" b="b" t="t" l="l"/>
              <a:pathLst>
                <a:path h="10501122" w="10501122">
                  <a:moveTo>
                    <a:pt x="0" y="0"/>
                  </a:moveTo>
                  <a:lnTo>
                    <a:pt x="10501122" y="0"/>
                  </a:lnTo>
                  <a:lnTo>
                    <a:pt x="10501122" y="10501122"/>
                  </a:lnTo>
                  <a:lnTo>
                    <a:pt x="0" y="10501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9322594" y="4970116"/>
            <a:ext cx="3908669" cy="699792"/>
          </a:xfrm>
          <a:custGeom>
            <a:avLst/>
            <a:gdLst/>
            <a:ahLst/>
            <a:cxnLst/>
            <a:rect r="r" b="b" t="t" l="l"/>
            <a:pathLst>
              <a:path h="699792" w="3908669">
                <a:moveTo>
                  <a:pt x="0" y="0"/>
                </a:moveTo>
                <a:lnTo>
                  <a:pt x="3908669" y="0"/>
                </a:lnTo>
                <a:lnTo>
                  <a:pt x="3908669" y="699793"/>
                </a:lnTo>
                <a:lnTo>
                  <a:pt x="0" y="6997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83" r="0" b="-28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33934" y="4960591"/>
            <a:ext cx="3697338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Secure Coding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33934" y="5280574"/>
            <a:ext cx="3697338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SQL injection prevention and input validation at every layer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3308654" y="4970116"/>
            <a:ext cx="3908822" cy="699792"/>
          </a:xfrm>
          <a:custGeom>
            <a:avLst/>
            <a:gdLst/>
            <a:ahLst/>
            <a:cxnLst/>
            <a:rect r="r" b="b" t="t" l="l"/>
            <a:pathLst>
              <a:path h="699792" w="3908822">
                <a:moveTo>
                  <a:pt x="0" y="0"/>
                </a:moveTo>
                <a:lnTo>
                  <a:pt x="3908822" y="0"/>
                </a:lnTo>
                <a:lnTo>
                  <a:pt x="3908822" y="699793"/>
                </a:lnTo>
                <a:lnTo>
                  <a:pt x="0" y="699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84" r="0" b="-28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519995" y="4960591"/>
            <a:ext cx="3697491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Password Hashing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19995" y="5280574"/>
            <a:ext cx="3697491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bcrypt implementation with adaptive cost factors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22594" y="5785990"/>
            <a:ext cx="3908669" cy="699792"/>
          </a:xfrm>
          <a:custGeom>
            <a:avLst/>
            <a:gdLst/>
            <a:ahLst/>
            <a:cxnLst/>
            <a:rect r="r" b="b" t="t" l="l"/>
            <a:pathLst>
              <a:path h="699792" w="3908669">
                <a:moveTo>
                  <a:pt x="0" y="0"/>
                </a:moveTo>
                <a:lnTo>
                  <a:pt x="3908669" y="0"/>
                </a:lnTo>
                <a:lnTo>
                  <a:pt x="3908669" y="699792"/>
                </a:lnTo>
                <a:lnTo>
                  <a:pt x="0" y="6997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83" r="0" b="-28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33934" y="5776465"/>
            <a:ext cx="3697338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Standards Integration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33934" y="6096448"/>
            <a:ext cx="3697338" cy="37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Translating NIST and OWASP guidelines into working code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3308654" y="5785990"/>
            <a:ext cx="3908822" cy="699792"/>
          </a:xfrm>
          <a:custGeom>
            <a:avLst/>
            <a:gdLst/>
            <a:ahLst/>
            <a:cxnLst/>
            <a:rect r="r" b="b" t="t" l="l"/>
            <a:pathLst>
              <a:path h="699792" w="3908822">
                <a:moveTo>
                  <a:pt x="0" y="0"/>
                </a:moveTo>
                <a:lnTo>
                  <a:pt x="3908822" y="0"/>
                </a:lnTo>
                <a:lnTo>
                  <a:pt x="3908822" y="699792"/>
                </a:lnTo>
                <a:lnTo>
                  <a:pt x="0" y="699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84" r="0" b="-284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519995" y="5776465"/>
            <a:ext cx="3697491" cy="24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Security Reporting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19995" y="6096448"/>
            <a:ext cx="3697491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Designing professional, actionable audit outputs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0049" y="9839477"/>
            <a:ext cx="19050" cy="358531"/>
            <a:chOff x="0" y="0"/>
            <a:chExt cx="25400" cy="4780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" cy="478028"/>
            </a:xfrm>
            <a:custGeom>
              <a:avLst/>
              <a:gdLst/>
              <a:ahLst/>
              <a:cxnLst/>
              <a:rect r="r" b="b" t="t" l="l"/>
              <a:pathLst>
                <a:path h="478028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465328"/>
                  </a:lnTo>
                  <a:cubicBezTo>
                    <a:pt x="25400" y="472313"/>
                    <a:pt x="19685" y="478028"/>
                    <a:pt x="12700" y="478028"/>
                  </a:cubicBezTo>
                  <a:cubicBezTo>
                    <a:pt x="5715" y="478028"/>
                    <a:pt x="0" y="472313"/>
                    <a:pt x="0" y="465328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11478" y="9926241"/>
            <a:ext cx="16810882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We sincerely thank </a:t>
            </a:r>
            <a:r>
              <a:rPr lang="en-US" sz="1200" b="true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Mr. Manish Singh</a:t>
            </a: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for his guidance and mentorship, which transformed this project from an academic idea into a professional security-focused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DAHOs-phW78</dc:identifier>
  <dcterms:modified xsi:type="dcterms:W3CDTF">2011-08-01T06:04:30Z</dcterms:modified>
  <cp:revision>1</cp:revision>
  <dc:title>The interface follows modern application design principles — built for clarity, speed, and usability under real-world conditions.</dc:title>
</cp:coreProperties>
</file>